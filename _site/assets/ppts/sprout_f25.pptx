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4"/>
  </p:sldMasterIdLst>
  <p:notesMasterIdLst>
    <p:notesMasterId r:id="rId42"/>
  </p:notesMasterIdLst>
  <p:sldIdLst>
    <p:sldId id="288" r:id="rId5"/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5" r:id="rId14"/>
    <p:sldId id="264" r:id="rId15"/>
    <p:sldId id="268" r:id="rId16"/>
    <p:sldId id="271" r:id="rId17"/>
    <p:sldId id="266" r:id="rId18"/>
    <p:sldId id="272" r:id="rId19"/>
    <p:sldId id="270" r:id="rId20"/>
    <p:sldId id="278" r:id="rId21"/>
    <p:sldId id="295" r:id="rId22"/>
    <p:sldId id="294" r:id="rId23"/>
    <p:sldId id="285" r:id="rId24"/>
    <p:sldId id="269" r:id="rId25"/>
    <p:sldId id="280" r:id="rId26"/>
    <p:sldId id="284" r:id="rId27"/>
    <p:sldId id="287" r:id="rId28"/>
    <p:sldId id="289" r:id="rId29"/>
    <p:sldId id="292" r:id="rId30"/>
    <p:sldId id="293" r:id="rId31"/>
    <p:sldId id="290" r:id="rId32"/>
    <p:sldId id="291" r:id="rId33"/>
    <p:sldId id="286" r:id="rId34"/>
    <p:sldId id="296" r:id="rId35"/>
    <p:sldId id="283" r:id="rId36"/>
    <p:sldId id="282" r:id="rId37"/>
    <p:sldId id="273" r:id="rId38"/>
    <p:sldId id="275" r:id="rId39"/>
    <p:sldId id="276" r:id="rId40"/>
    <p:sldId id="27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217F1-C8F1-4ED3-B61B-73DD7A9080C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BFDA9F-BE57-4697-B58B-97F2560258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5831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FDA9F-BE57-4697-B58B-97F2560258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4900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BFDA9F-BE57-4697-B58B-97F2560258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65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738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783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488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534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913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408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726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961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351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511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756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0821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jpeg"/><Relationship Id="rId7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3.jpeg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jpeg"/><Relationship Id="rId4" Type="http://schemas.openxmlformats.org/officeDocument/2006/relationships/image" Target="../media/image30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www.youtube.com/watch?v=ELnn9V01EiI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jpeg"/><Relationship Id="rId4" Type="http://schemas.openxmlformats.org/officeDocument/2006/relationships/image" Target="../media/image35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07B84-7A17-2760-585B-83B5E189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SPROUT F25: How to Talk to Aliens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06D5E-DA61-069F-75EE-D715532F1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DAY 1: Where are the Aliens?</a:t>
            </a:r>
          </a:p>
          <a:p>
            <a:r>
              <a:rPr lang="en-US" dirty="0"/>
              <a:t>Astrobiology, Planetary Science, the Drake Equation, the Fermi Paradox</a:t>
            </a:r>
          </a:p>
          <a:p>
            <a:r>
              <a:rPr lang="en-US" dirty="0"/>
              <a:t>Astronomy basics: spectroscopy (prisms), photometry (cameras)</a:t>
            </a:r>
          </a:p>
          <a:p>
            <a:r>
              <a:rPr lang="en-US" dirty="0"/>
              <a:t>Communication &amp; Social Impact</a:t>
            </a:r>
          </a:p>
          <a:p>
            <a:pPr marL="0" indent="0">
              <a:buNone/>
            </a:pPr>
            <a:r>
              <a:rPr lang="en-US" dirty="0"/>
              <a:t>DAY 2: Mission Design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8505D-17B0-CF5C-85C7-BD53B0BF6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CEB3F-FE2D-4B89-AD49-7F7810B527C1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E67A5-85A1-C759-3308-ECEF6459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6CAA6-3F74-782F-287D-294A4C04B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</a:t>
            </a:fld>
            <a:endParaRPr lang="en-US" dirty="0"/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308387" y="6114644"/>
            <a:ext cx="8132227" cy="1350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+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Kenny Phan (he/any), Yale College '27</a:t>
            </a:r>
          </a:p>
        </p:txBody>
      </p:sp>
      <p:pic>
        <p:nvPicPr>
          <p:cNvPr id="8" name="Picture 7" descr="Parasyte The Maxim HD Wallpaper - WallpaperSafari">
            <a:extLst>
              <a:ext uri="{FF2B5EF4-FFF2-40B4-BE49-F238E27FC236}">
                <a16:creationId xmlns:a16="http://schemas.microsoft.com/office/drawing/2014/main" id="{F242DA1B-780A-7A59-B7F9-4D48DB2AB6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04" b="69"/>
          <a:stretch/>
        </p:blipFill>
        <p:spPr>
          <a:xfrm>
            <a:off x="4765765" y="4241871"/>
            <a:ext cx="3778493" cy="2325446"/>
          </a:xfrm>
          <a:prstGeom prst="rect">
            <a:avLst/>
          </a:prstGeom>
        </p:spPr>
      </p:pic>
      <p:pic>
        <p:nvPicPr>
          <p:cNvPr id="9" name="Picture 8" descr="Jar Jar Binks (Ahmed Best) Best Star Wars Characters, Movie Characters ...">
            <a:extLst>
              <a:ext uri="{FF2B5EF4-FFF2-40B4-BE49-F238E27FC236}">
                <a16:creationId xmlns:a16="http://schemas.microsoft.com/office/drawing/2014/main" id="{D72B1A44-82C7-BE55-0003-5589E6B91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7808" y="2604169"/>
            <a:ext cx="2743200" cy="2965288"/>
          </a:xfrm>
          <a:prstGeom prst="rect">
            <a:avLst/>
          </a:prstGeom>
        </p:spPr>
      </p:pic>
      <p:pic>
        <p:nvPicPr>
          <p:cNvPr id="10" name="Picture 9" descr="Toy Story Aliens Meme">
            <a:extLst>
              <a:ext uri="{FF2B5EF4-FFF2-40B4-BE49-F238E27FC236}">
                <a16:creationId xmlns:a16="http://schemas.microsoft.com/office/drawing/2014/main" id="{E1D79F57-378B-9D41-0434-A64261828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4431" y="4606440"/>
            <a:ext cx="4606577" cy="2101096"/>
          </a:xfrm>
          <a:prstGeom prst="rect">
            <a:avLst/>
          </a:prstGeom>
        </p:spPr>
      </p:pic>
      <p:pic>
        <p:nvPicPr>
          <p:cNvPr id="11" name="Picture 2" descr="Where Truly Is Voyager 1? - Astronomy for Teens">
            <a:extLst>
              <a:ext uri="{FF2B5EF4-FFF2-40B4-BE49-F238E27FC236}">
                <a16:creationId xmlns:a16="http://schemas.microsoft.com/office/drawing/2014/main" id="{022EC6ED-3765-6C54-2C46-738C94368F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89" y="4606440"/>
            <a:ext cx="2078165" cy="1508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 descr="Voyager 2 Enters Interstellar Space">
            <a:extLst>
              <a:ext uri="{FF2B5EF4-FFF2-40B4-BE49-F238E27FC236}">
                <a16:creationId xmlns:a16="http://schemas.microsoft.com/office/drawing/2014/main" id="{DFEA355C-9099-81E2-7643-4890F02EB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0590" y="4606440"/>
            <a:ext cx="2224698" cy="14831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0108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arasyte The Maxim HD Wallpaper - WallpaperSafari">
            <a:extLst>
              <a:ext uri="{FF2B5EF4-FFF2-40B4-BE49-F238E27FC236}">
                <a16:creationId xmlns:a16="http://schemas.microsoft.com/office/drawing/2014/main" id="{A730B71E-E08C-EBA6-E857-799959446E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04" b="69"/>
          <a:stretch/>
        </p:blipFill>
        <p:spPr>
          <a:xfrm>
            <a:off x="2469779" y="2342959"/>
            <a:ext cx="3778493" cy="2325446"/>
          </a:xfrm>
          <a:prstGeom prst="rect">
            <a:avLst/>
          </a:prstGeom>
        </p:spPr>
      </p:pic>
      <p:pic>
        <p:nvPicPr>
          <p:cNvPr id="9" name="Picture 8" descr="Jar Jar Binks (Ahmed Best) Best Star Wars Characters, Movie Characters ...">
            <a:extLst>
              <a:ext uri="{FF2B5EF4-FFF2-40B4-BE49-F238E27FC236}">
                <a16:creationId xmlns:a16="http://schemas.microsoft.com/office/drawing/2014/main" id="{F40E1FD5-3DA3-5DD5-E92A-5B2C724EF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3914" y="3862242"/>
            <a:ext cx="2743200" cy="2965288"/>
          </a:xfrm>
          <a:prstGeom prst="rect">
            <a:avLst/>
          </a:prstGeom>
        </p:spPr>
      </p:pic>
      <p:pic>
        <p:nvPicPr>
          <p:cNvPr id="7" name="Picture 6" descr="Alien Photographs | LoveToKnow">
            <a:extLst>
              <a:ext uri="{FF2B5EF4-FFF2-40B4-BE49-F238E27FC236}">
                <a16:creationId xmlns:a16="http://schemas.microsoft.com/office/drawing/2014/main" id="{E6999970-7707-4BB7-06C6-2DC627D611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2758" y="5029200"/>
            <a:ext cx="2743200" cy="1828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3830" y="745440"/>
            <a:ext cx="8960449" cy="3559859"/>
          </a:xfrm>
        </p:spPr>
        <p:txBody>
          <a:bodyPr/>
          <a:lstStyle/>
          <a:p>
            <a:r>
              <a:rPr lang="en-US" dirty="0"/>
              <a:t>DAY 1:</a:t>
            </a:r>
            <a:br>
              <a:rPr lang="en-US" dirty="0"/>
            </a:br>
            <a:r>
              <a:rPr lang="en-US" dirty="0"/>
              <a:t>Where are the Aliens?</a:t>
            </a:r>
          </a:p>
        </p:txBody>
      </p:sp>
      <p:pic>
        <p:nvPicPr>
          <p:cNvPr id="4" name="Picture 3" descr="Toy Story Aliens Meme">
            <a:extLst>
              <a:ext uri="{FF2B5EF4-FFF2-40B4-BE49-F238E27FC236}">
                <a16:creationId xmlns:a16="http://schemas.microsoft.com/office/drawing/2014/main" id="{DAE5256E-B484-D071-F61F-1A8A278918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6703" y="4670855"/>
            <a:ext cx="4606577" cy="2101096"/>
          </a:xfrm>
          <a:prstGeom prst="rect">
            <a:avLst/>
          </a:prstGeom>
        </p:spPr>
      </p:pic>
      <p:pic>
        <p:nvPicPr>
          <p:cNvPr id="6" name="Picture 5" descr="E.T. The Extra-Terrestrial Celebrates Its 40th Anniversary In 4K UHD ...">
            <a:extLst>
              <a:ext uri="{FF2B5EF4-FFF2-40B4-BE49-F238E27FC236}">
                <a16:creationId xmlns:a16="http://schemas.microsoft.com/office/drawing/2014/main" id="{DBF648ED-EB27-D6B0-0C20-7786A5413B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3114" y="544010"/>
            <a:ext cx="2743199" cy="1655179"/>
          </a:xfrm>
          <a:prstGeom prst="rect">
            <a:avLst/>
          </a:prstGeom>
        </p:spPr>
      </p:pic>
      <p:pic>
        <p:nvPicPr>
          <p:cNvPr id="8" name="Picture 7" descr="Alien Wallpapers - Top Free Alien Backgrounds - WallpaperAccess">
            <a:extLst>
              <a:ext uri="{FF2B5EF4-FFF2-40B4-BE49-F238E27FC236}">
                <a16:creationId xmlns:a16="http://schemas.microsoft.com/office/drawing/2014/main" id="{F2FA573B-BFE5-3652-CEFF-FECD7EF3F7F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120000">
            <a:off x="8855529" y="2790187"/>
            <a:ext cx="2743200" cy="1713053"/>
          </a:xfrm>
          <a:prstGeom prst="rect">
            <a:avLst/>
          </a:prstGeom>
        </p:spPr>
      </p:pic>
      <p:pic>
        <p:nvPicPr>
          <p:cNvPr id="10" name="Picture 9" descr="HD Wallpaper: Star Trek - The Original Series Tribute">
            <a:extLst>
              <a:ext uri="{FF2B5EF4-FFF2-40B4-BE49-F238E27FC236}">
                <a16:creationId xmlns:a16="http://schemas.microsoft.com/office/drawing/2014/main" id="{C8FC9A43-E4F8-CBE8-2EA0-87E5A3D1DD2F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1792" r="25287" b="233"/>
          <a:stretch/>
        </p:blipFill>
        <p:spPr>
          <a:xfrm>
            <a:off x="6244773" y="2343598"/>
            <a:ext cx="2684942" cy="232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220E3-70D3-A053-5C66-8E74294B1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Q: What is Astrobiology?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6FD4C-2C41-59A8-56C4-915C37A7F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0A2D-97D0-43D7-8FE9-A23008F56BE7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8A946-9499-871E-0D30-2034DBA1E3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280D7-603F-3816-B501-AF8A514C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8047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DF9B2-9DF6-A52A-A5F5-895218FEB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7C790-768B-97ED-22FC-CEC5C718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Q: What is Astrobiology?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7F3CF-0AFC-FD6B-200D-D11202FDE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0A2D-97D0-43D7-8FE9-A23008F56BE7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2E7EB-DCFE-D85C-B004-3399EB8F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BA8E9-C44B-6FBB-FA44-483CFA5A7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4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20EF405-78F5-0C94-8EFE-5085762BFB85}"/>
              </a:ext>
            </a:extLst>
          </p:cNvPr>
          <p:cNvSpPr txBox="1">
            <a:spLocks/>
          </p:cNvSpPr>
          <p:nvPr/>
        </p:nvSpPr>
        <p:spPr>
          <a:xfrm>
            <a:off x="308387" y="1342445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i="1"/>
              <a:t>A: the most interesting subject ever!</a:t>
            </a:r>
            <a:endParaRPr lang="en-US"/>
          </a:p>
        </p:txBody>
      </p:sp>
      <p:pic>
        <p:nvPicPr>
          <p:cNvPr id="9" name="Picture 8" descr="Dyson Sphere Nasa">
            <a:extLst>
              <a:ext uri="{FF2B5EF4-FFF2-40B4-BE49-F238E27FC236}">
                <a16:creationId xmlns:a16="http://schemas.microsoft.com/office/drawing/2014/main" id="{38AEB144-2D9A-1763-BDB9-9835D43B1F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4523" y="340154"/>
            <a:ext cx="2743198" cy="1539432"/>
          </a:xfrm>
          <a:prstGeom prst="rect">
            <a:avLst/>
          </a:prstGeom>
        </p:spPr>
      </p:pic>
      <p:pic>
        <p:nvPicPr>
          <p:cNvPr id="10" name="Picture 9" descr="Science has found over 5,000 alien worlds, but what do we know about ...">
            <a:extLst>
              <a:ext uri="{FF2B5EF4-FFF2-40B4-BE49-F238E27FC236}">
                <a16:creationId xmlns:a16="http://schemas.microsoft.com/office/drawing/2014/main" id="{6FE9BDA4-453B-D455-D723-A3C5EEDB7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1" y="4302554"/>
            <a:ext cx="4419598" cy="2500214"/>
          </a:xfrm>
          <a:prstGeom prst="rect">
            <a:avLst/>
          </a:prstGeom>
        </p:spPr>
      </p:pic>
      <p:pic>
        <p:nvPicPr>
          <p:cNvPr id="11" name="Picture 10" descr="Discovery of a Planet Spiraling Into Its Star Could Foreshadow Earth's ...">
            <a:extLst>
              <a:ext uri="{FF2B5EF4-FFF2-40B4-BE49-F238E27FC236}">
                <a16:creationId xmlns:a16="http://schemas.microsoft.com/office/drawing/2014/main" id="{2F9130AF-5356-2894-B2A5-6302CF39E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3578675"/>
            <a:ext cx="8004312" cy="321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818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4C5D7-DF14-4D47-B469-AD4C01FAE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001B-D8DE-D8FE-DAFE-93EE3568C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e.g. a star and a planet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2D56D-7713-40E0-5922-BEF828158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0A2D-97D0-43D7-8FE9-A23008F56BE7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0F3B7-EA49-F694-E944-423FB5AD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475DF-2A72-5F59-0BC3-2AC976A21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5</a:t>
            </a:fld>
            <a:endParaRPr lang="en-US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9A141821-A6FF-5AD1-625D-76A1E603EA38}"/>
              </a:ext>
            </a:extLst>
          </p:cNvPr>
          <p:cNvSpPr/>
          <p:nvPr/>
        </p:nvSpPr>
        <p:spPr>
          <a:xfrm>
            <a:off x="1112577" y="3417202"/>
            <a:ext cx="1708601" cy="1549661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3D5080-410E-BC4F-1B9B-37A30A9D65E4}"/>
              </a:ext>
            </a:extLst>
          </p:cNvPr>
          <p:cNvSpPr/>
          <p:nvPr/>
        </p:nvSpPr>
        <p:spPr>
          <a:xfrm>
            <a:off x="5184585" y="373519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19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A8C20-8559-83DE-835A-7778E8FB9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52448-3B5B-F9D1-8317-A4021822F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e.g. a star and a planet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AE4FF-C6DC-9A10-F6D9-E6B7DD8DC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0A2D-97D0-43D7-8FE9-A23008F56BE7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28410-6553-38DB-7A50-11CD3CBCE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3605CE-B3F5-3DBE-5877-EB5558081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6</a:t>
            </a:fld>
            <a:endParaRPr lang="en-US"/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FA12AA37-7227-B271-B96A-2814277CD40C}"/>
              </a:ext>
            </a:extLst>
          </p:cNvPr>
          <p:cNvSpPr/>
          <p:nvPr/>
        </p:nvSpPr>
        <p:spPr>
          <a:xfrm>
            <a:off x="1112577" y="3417202"/>
            <a:ext cx="1708601" cy="1549661"/>
          </a:xfrm>
          <a:prstGeom prst="star5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B1D8E3E-3906-C924-182C-B6F40CA15351}"/>
              </a:ext>
            </a:extLst>
          </p:cNvPr>
          <p:cNvSpPr/>
          <p:nvPr/>
        </p:nvSpPr>
        <p:spPr>
          <a:xfrm>
            <a:off x="5184585" y="373519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C1FFD84-C491-99DC-03AB-715A1FC00D53}"/>
              </a:ext>
            </a:extLst>
          </p:cNvPr>
          <p:cNvSpPr txBox="1">
            <a:spLocks/>
          </p:cNvSpPr>
          <p:nvPr/>
        </p:nvSpPr>
        <p:spPr>
          <a:xfrm>
            <a:off x="6927849" y="1481594"/>
            <a:ext cx="5676293" cy="45066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think! pair! share!</a:t>
            </a:r>
          </a:p>
          <a:p>
            <a:endParaRPr lang="en-US"/>
          </a:p>
          <a:p>
            <a:r>
              <a:rPr lang="en-US"/>
              <a:t>if we were space explorers, what would be good to know about this system?</a:t>
            </a:r>
          </a:p>
        </p:txBody>
      </p:sp>
    </p:spTree>
    <p:extLst>
      <p:ext uri="{BB962C8B-B14F-4D97-AF65-F5344CB8AC3E}">
        <p14:creationId xmlns:p14="http://schemas.microsoft.com/office/powerpoint/2010/main" val="676629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EF666-2962-3845-47D2-FE48B7FD8D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20AC2-FDBB-5CC6-46AB-992A15715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The (Frank) Drake Equation, 1965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3EBA01-3527-644A-7504-821B4DF4B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0A2D-97D0-43D7-8FE9-A23008F56BE7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B2976-3CEC-6A98-961A-C9C8122D92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6971C-6B3E-38CF-24F5-3710F18D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7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AA2B74C-8578-7E6A-6533-DC2B992D93F6}"/>
              </a:ext>
            </a:extLst>
          </p:cNvPr>
          <p:cNvSpPr txBox="1">
            <a:spLocks/>
          </p:cNvSpPr>
          <p:nvPr/>
        </p:nvSpPr>
        <p:spPr>
          <a:xfrm>
            <a:off x="308387" y="2707419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i="1"/>
              <a:t>N = R * </a:t>
            </a:r>
            <a:r>
              <a:rPr lang="en-US" i="1" err="1"/>
              <a:t>fp</a:t>
            </a:r>
            <a:r>
              <a:rPr lang="en-US" i="1"/>
              <a:t> * ne * </a:t>
            </a:r>
            <a:r>
              <a:rPr lang="en-US" i="1" err="1"/>
              <a:t>fl</a:t>
            </a:r>
            <a:r>
              <a:rPr lang="en-US" i="1"/>
              <a:t> * fi * fc * L </a:t>
            </a:r>
          </a:p>
        </p:txBody>
      </p:sp>
      <p:pic>
        <p:nvPicPr>
          <p:cNvPr id="14" name="Picture 13" descr="A person wearing glasses and a grey sweater&#10;&#10;AI-generated content may be incorrect.">
            <a:extLst>
              <a:ext uri="{FF2B5EF4-FFF2-40B4-BE49-F238E27FC236}">
                <a16:creationId xmlns:a16="http://schemas.microsoft.com/office/drawing/2014/main" id="{F6251AC8-4564-4A7B-2A3E-1503ED8B5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383" y="3159539"/>
            <a:ext cx="25400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79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1F87A-3105-C93B-AC4C-2541F618B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993D6-CF18-6FCD-D4F6-75F5C880A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The Drake Equation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D5C45-D689-5B7D-45E7-0807913EF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0A2D-97D0-43D7-8FE9-A23008F56BE7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06587F-B926-F116-9467-9961FB228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87A9D1-2D11-9D19-725D-451A0364B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8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AC1CF68-7C13-2FD8-01E9-E2F80FA779DD}"/>
              </a:ext>
            </a:extLst>
          </p:cNvPr>
          <p:cNvSpPr txBox="1">
            <a:spLocks/>
          </p:cNvSpPr>
          <p:nvPr/>
        </p:nvSpPr>
        <p:spPr>
          <a:xfrm>
            <a:off x="308387" y="2040669"/>
            <a:ext cx="11290247" cy="38708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i="1"/>
              <a:t>Number of contactable civilizations = </a:t>
            </a:r>
            <a:endParaRPr lang="en-US" b="0"/>
          </a:p>
          <a:p>
            <a:r>
              <a:rPr lang="en-US" b="0" i="1"/>
              <a:t>Rate of star formation * </a:t>
            </a:r>
            <a:endParaRPr lang="en-US" b="0"/>
          </a:p>
          <a:p>
            <a:r>
              <a:rPr lang="en-US" b="0" i="1"/>
              <a:t>frac. of stars with planets * </a:t>
            </a:r>
            <a:endParaRPr lang="en-US" b="0"/>
          </a:p>
          <a:p>
            <a:r>
              <a:rPr lang="en-US" b="0" i="1"/>
              <a:t># of planets per star w/ planet(s) * </a:t>
            </a:r>
            <a:endParaRPr lang="en-US" b="0"/>
          </a:p>
          <a:p>
            <a:r>
              <a:rPr lang="en-US" b="0" i="1"/>
              <a:t>frac. of those planets w/ life * </a:t>
            </a:r>
            <a:endParaRPr lang="en-US" b="0"/>
          </a:p>
          <a:p>
            <a:r>
              <a:rPr lang="en-US" b="0" i="1"/>
              <a:t>frac. of those planets w/ intelligent life * </a:t>
            </a:r>
            <a:endParaRPr lang="en-US" b="0"/>
          </a:p>
          <a:p>
            <a:r>
              <a:rPr lang="en-US" b="0" i="1"/>
              <a:t>frac. of those planets with communicative life * </a:t>
            </a:r>
            <a:endParaRPr lang="en-US" b="0"/>
          </a:p>
          <a:p>
            <a:r>
              <a:rPr lang="en-US" b="0" i="1"/>
              <a:t>length of time life has been communicating (beyond their planet) </a:t>
            </a:r>
            <a:endParaRPr lang="en-US" b="0"/>
          </a:p>
        </p:txBody>
      </p:sp>
    </p:spTree>
    <p:extLst>
      <p:ext uri="{BB962C8B-B14F-4D97-AF65-F5344CB8AC3E}">
        <p14:creationId xmlns:p14="http://schemas.microsoft.com/office/powerpoint/2010/main" val="29851795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25218-0654-E34E-8DB8-70E79D88A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D3B18-95DE-D9B8-BA23-588E4D8A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The Drake Equation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49A67C-2C61-1C75-CBB8-59950C8EE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0A2D-97D0-43D7-8FE9-A23008F56BE7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5E9F5C-33B8-73E8-2765-75D7CE58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3C005-6470-98F1-3772-700D9A985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9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FA74BFE-BDA3-A437-C008-E09412B2E079}"/>
              </a:ext>
            </a:extLst>
          </p:cNvPr>
          <p:cNvSpPr txBox="1">
            <a:spLocks/>
          </p:cNvSpPr>
          <p:nvPr/>
        </p:nvSpPr>
        <p:spPr>
          <a:xfrm>
            <a:off x="448087" y="2624869"/>
            <a:ext cx="11296597" cy="24865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i="1"/>
              <a:t>N &lt;&lt; 1 OR N &gt;&gt; 1</a:t>
            </a:r>
            <a:endParaRPr lang="en-US"/>
          </a:p>
          <a:p>
            <a:endParaRPr lang="en-US" b="0" i="1"/>
          </a:p>
          <a:p>
            <a:r>
              <a:rPr lang="en-US" b="0" i="1"/>
              <a:t>Depending on the values and uncertainties you use</a:t>
            </a:r>
          </a:p>
          <a:p>
            <a:endParaRPr lang="en-US" b="0" i="1"/>
          </a:p>
          <a:p>
            <a:r>
              <a:rPr lang="en-US" b="0" i="1"/>
              <a:t>Ridiculously unhelpful!</a:t>
            </a:r>
          </a:p>
        </p:txBody>
      </p:sp>
    </p:spTree>
    <p:extLst>
      <p:ext uri="{BB962C8B-B14F-4D97-AF65-F5344CB8AC3E}">
        <p14:creationId xmlns:p14="http://schemas.microsoft.com/office/powerpoint/2010/main" val="1240582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89EB9-820D-B2B4-8237-CC88DF675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3ED57-DC79-458A-6A17-68DC6B135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The Drake Equation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A6212-AAA3-CA08-737F-02DEDD03D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0A2D-97D0-43D7-8FE9-A23008F56BE7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5D1DE-1CC6-9EC3-D9B1-10493B907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7A948-2C82-DB2E-113B-615A5117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10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F1566B2-80A7-4ADD-8080-08DB40D12E5A}"/>
              </a:ext>
            </a:extLst>
          </p:cNvPr>
          <p:cNvSpPr txBox="1">
            <a:spLocks/>
          </p:cNvSpPr>
          <p:nvPr/>
        </p:nvSpPr>
        <p:spPr>
          <a:xfrm>
            <a:off x="448087" y="2624869"/>
            <a:ext cx="11296597" cy="248653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i="1" dirty="0"/>
              <a:t>N &lt;&lt; 1 OR N &gt;&gt; 1 &lt;-- assume this, N ~ L</a:t>
            </a:r>
            <a:endParaRPr lang="en-US" dirty="0"/>
          </a:p>
          <a:p>
            <a:endParaRPr lang="en-US" b="0" i="1"/>
          </a:p>
          <a:p>
            <a:r>
              <a:rPr lang="en-US" b="0" i="1" dirty="0"/>
              <a:t>Depending on the values and uncertainties you use</a:t>
            </a:r>
          </a:p>
          <a:p>
            <a:endParaRPr lang="en-US" b="0" i="1"/>
          </a:p>
          <a:p>
            <a:r>
              <a:rPr lang="en-US" b="0" i="1" dirty="0"/>
              <a:t>Ridiculously unhelpful!</a:t>
            </a:r>
          </a:p>
        </p:txBody>
      </p:sp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094A3C26-FED1-9433-A7EE-7AF9EAB9D44A}"/>
              </a:ext>
            </a:extLst>
          </p:cNvPr>
          <p:cNvSpPr/>
          <p:nvPr/>
        </p:nvSpPr>
        <p:spPr>
          <a:xfrm rot="-2580000">
            <a:off x="-523797" y="2196636"/>
            <a:ext cx="3191407" cy="1486905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940692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0E851-A831-9265-C18A-E043A03A7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white shirt and tie&#10;&#10;AI-generated content may be incorrect.">
            <a:extLst>
              <a:ext uri="{FF2B5EF4-FFF2-40B4-BE49-F238E27FC236}">
                <a16:creationId xmlns:a16="http://schemas.microsoft.com/office/drawing/2014/main" id="{45A227ED-E347-F9AF-E97A-E4086E560A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24" r="1647" b="23684"/>
          <a:stretch/>
        </p:blipFill>
        <p:spPr>
          <a:xfrm rot="2340000">
            <a:off x="7170057" y="5036986"/>
            <a:ext cx="2649849" cy="2777162"/>
          </a:xfrm>
          <a:prstGeom prst="rect">
            <a:avLst/>
          </a:prstGeom>
        </p:spPr>
      </p:pic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F5FCDD42-431C-5BAC-24B3-931099824BD6}"/>
              </a:ext>
            </a:extLst>
          </p:cNvPr>
          <p:cNvSpPr/>
          <p:nvPr/>
        </p:nvSpPr>
        <p:spPr>
          <a:xfrm flipH="1">
            <a:off x="281252" y="2200028"/>
            <a:ext cx="9064256" cy="3305294"/>
          </a:xfrm>
          <a:prstGeom prst="wedgeEllipseCallou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0DC96-119D-420F-8F8F-24BE81D90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The (Enrico) Fermi Paradox, 1950ish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1B698-C9B4-6E55-318B-B82ECFD40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0A2D-97D0-43D7-8FE9-A23008F56BE7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DE2C8-E1C0-23B0-37A3-CE0DE7114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B3C56-52F1-433D-A367-544EB94CB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11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BEB5E61-755C-D397-701F-D170AFC7C87B}"/>
              </a:ext>
            </a:extLst>
          </p:cNvPr>
          <p:cNvSpPr txBox="1">
            <a:spLocks/>
          </p:cNvSpPr>
          <p:nvPr/>
        </p:nvSpPr>
        <p:spPr>
          <a:xfrm>
            <a:off x="1095787" y="2592212"/>
            <a:ext cx="8275812" cy="2519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i="1" dirty="0"/>
              <a:t>If we assume N &gt;&gt; 1 (as many astronomers do) </a:t>
            </a:r>
            <a:endParaRPr lang="en-US" dirty="0"/>
          </a:p>
          <a:p>
            <a:endParaRPr lang="en-US" b="0" i="1"/>
          </a:p>
          <a:p>
            <a:r>
              <a:rPr lang="en-US" b="0" i="1" dirty="0"/>
              <a:t>WHERE ARE THE ALIENS?</a:t>
            </a:r>
          </a:p>
        </p:txBody>
      </p:sp>
    </p:spTree>
    <p:extLst>
      <p:ext uri="{BB962C8B-B14F-4D97-AF65-F5344CB8AC3E}">
        <p14:creationId xmlns:p14="http://schemas.microsoft.com/office/powerpoint/2010/main" val="53919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82D1A-516D-DFB7-6648-E47742FFD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white shirt and tie&#10;&#10;AI-generated content may be incorrect.">
            <a:extLst>
              <a:ext uri="{FF2B5EF4-FFF2-40B4-BE49-F238E27FC236}">
                <a16:creationId xmlns:a16="http://schemas.microsoft.com/office/drawing/2014/main" id="{B2165840-BF44-680A-F27C-9D1240A482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24" r="1647" b="23684"/>
          <a:stretch/>
        </p:blipFill>
        <p:spPr>
          <a:xfrm rot="2340000">
            <a:off x="7170057" y="5036986"/>
            <a:ext cx="2649849" cy="2777162"/>
          </a:xfrm>
          <a:prstGeom prst="rect">
            <a:avLst/>
          </a:prstGeom>
        </p:spPr>
      </p:pic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5D58D2E9-4F22-1980-22D9-0868DD489EAC}"/>
              </a:ext>
            </a:extLst>
          </p:cNvPr>
          <p:cNvSpPr/>
          <p:nvPr/>
        </p:nvSpPr>
        <p:spPr>
          <a:xfrm flipH="1">
            <a:off x="281252" y="2200028"/>
            <a:ext cx="9064256" cy="3305294"/>
          </a:xfrm>
          <a:prstGeom prst="wedgeEllipseCallou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1B15C9-141F-E0DF-54C3-A3FE1CD5C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The (Enrico) Fermi Paradox, 1950ish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AB3A5A-4F18-D845-2129-FB43A02D8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0A2D-97D0-43D7-8FE9-A23008F56BE7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11E06E-3038-1147-2807-E194D8EDD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A3912-DB2A-8A32-6DC6-A7A630233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12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135E6A-F98D-06C9-7CA9-AB9DCD9FED44}"/>
              </a:ext>
            </a:extLst>
          </p:cNvPr>
          <p:cNvSpPr txBox="1">
            <a:spLocks/>
          </p:cNvSpPr>
          <p:nvPr/>
        </p:nvSpPr>
        <p:spPr>
          <a:xfrm>
            <a:off x="1095787" y="2592212"/>
            <a:ext cx="8275812" cy="2519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i="1"/>
              <a:t>help me out! </a:t>
            </a:r>
          </a:p>
          <a:p>
            <a:endParaRPr lang="en-US" b="0" i="1"/>
          </a:p>
          <a:p>
            <a:r>
              <a:rPr lang="en-US" b="0" i="1"/>
              <a:t>think pair share:</a:t>
            </a:r>
            <a:endParaRPr lang="en-US"/>
          </a:p>
          <a:p>
            <a:r>
              <a:rPr lang="en-US" b="0" i="1"/>
              <a:t>WHERE ARE THE ALIENS?</a:t>
            </a:r>
          </a:p>
        </p:txBody>
      </p:sp>
    </p:spTree>
    <p:extLst>
      <p:ext uri="{BB962C8B-B14F-4D97-AF65-F5344CB8AC3E}">
        <p14:creationId xmlns:p14="http://schemas.microsoft.com/office/powerpoint/2010/main" val="3277034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CED70-80F4-1D03-C401-70512E39E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a white shirt and tie&#10;&#10;AI-generated content may be incorrect.">
            <a:extLst>
              <a:ext uri="{FF2B5EF4-FFF2-40B4-BE49-F238E27FC236}">
                <a16:creationId xmlns:a16="http://schemas.microsoft.com/office/drawing/2014/main" id="{E704DCAB-15D1-3B6F-DF9D-93C4E8852D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824" r="1647" b="23684"/>
          <a:stretch/>
        </p:blipFill>
        <p:spPr>
          <a:xfrm>
            <a:off x="9373507" y="4008286"/>
            <a:ext cx="2649849" cy="2777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D2E580-1DAA-59D1-2559-AB3E47825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The (Enrico) Fermi Paradox, 1950ish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50F5B-1677-4668-F642-C446075BF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00A2D-97D0-43D7-8FE9-A23008F56BE7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B60D-9D04-B8B1-3B00-9B176FB63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DBF57-4C8E-7E59-1045-BC372785F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89608DC-0223-22D2-08B2-E07676E96876}"/>
              </a:ext>
            </a:extLst>
          </p:cNvPr>
          <p:cNvSpPr txBox="1">
            <a:spLocks/>
          </p:cNvSpPr>
          <p:nvPr/>
        </p:nvSpPr>
        <p:spPr>
          <a:xfrm>
            <a:off x="308387" y="2877962"/>
            <a:ext cx="10282412" cy="25191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i="1" dirty="0"/>
              <a:t>Possible answers: </a:t>
            </a:r>
            <a:endParaRPr lang="en-US" dirty="0"/>
          </a:p>
          <a:p>
            <a:r>
              <a:rPr lang="en-US" b="0" i="1" dirty="0"/>
              <a:t>We are the first</a:t>
            </a:r>
          </a:p>
          <a:p>
            <a:r>
              <a:rPr lang="en-US" b="0" i="1" dirty="0"/>
              <a:t>Life is dies too much (the great filter)</a:t>
            </a:r>
          </a:p>
          <a:p>
            <a:r>
              <a:rPr lang="en-US" b="0" i="1" dirty="0"/>
              <a:t>We are in a simulation</a:t>
            </a:r>
          </a:p>
          <a:p>
            <a:r>
              <a:rPr lang="en-US" b="0" i="1" dirty="0"/>
              <a:t>Everyone is quiet (dark forest theory)</a:t>
            </a:r>
          </a:p>
          <a:p>
            <a:r>
              <a:rPr lang="en-US" b="0" i="1" dirty="0"/>
              <a:t>Space is too big</a:t>
            </a:r>
          </a:p>
          <a:p>
            <a:endParaRPr lang="en-US" b="0" i="1" dirty="0"/>
          </a:p>
        </p:txBody>
      </p:sp>
    </p:spTree>
    <p:extLst>
      <p:ext uri="{BB962C8B-B14F-4D97-AF65-F5344CB8AC3E}">
        <p14:creationId xmlns:p14="http://schemas.microsoft.com/office/powerpoint/2010/main" val="3954580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4A8F-71B4-44AF-4F01-EB6ABCBD0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i="1"/>
              <a:t>Biosignatures (</a:t>
            </a:r>
            <a:r>
              <a:rPr lang="en-US" i="1" err="1"/>
              <a:t>fl</a:t>
            </a:r>
            <a:r>
              <a:rPr lang="en-US" i="1"/>
              <a:t> in Drake eqn.)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A0AB9E-AE28-ADC8-16E2-CB39777E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E73F8-F50C-4258-8163-58599D0E20EE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0E9A2-C03C-62EB-D69E-2DF0E8EBB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5AEAC1-FA5A-85A8-84E0-194443DD1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14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91E4B6F-CE6D-DB51-62AF-CFBFD47CCB5C}"/>
              </a:ext>
            </a:extLst>
          </p:cNvPr>
          <p:cNvSpPr txBox="1">
            <a:spLocks/>
          </p:cNvSpPr>
          <p:nvPr/>
        </p:nvSpPr>
        <p:spPr>
          <a:xfrm>
            <a:off x="308387" y="2877962"/>
            <a:ext cx="10282412" cy="2519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i="1"/>
              <a:t>How did life form? What does it need?</a:t>
            </a:r>
          </a:p>
          <a:p>
            <a:endParaRPr lang="en-US" b="0" i="1"/>
          </a:p>
        </p:txBody>
      </p:sp>
    </p:spTree>
    <p:extLst>
      <p:ext uri="{BB962C8B-B14F-4D97-AF65-F5344CB8AC3E}">
        <p14:creationId xmlns:p14="http://schemas.microsoft.com/office/powerpoint/2010/main" val="15837906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EC1C9-9D28-1DD3-E8B8-831E1BA0D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17704-63E0-DB72-5333-02007E7F7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" y="620202"/>
            <a:ext cx="5973880" cy="1438780"/>
          </a:xfrm>
        </p:spPr>
        <p:txBody>
          <a:bodyPr/>
          <a:lstStyle/>
          <a:p>
            <a:r>
              <a:rPr lang="en-US" i="1" dirty="0"/>
              <a:t>Biosignatures: e.g. w/ spectroscopy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579B13A-6536-AC40-EEA2-3E0229D6D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29" t="31889" r="-236" b="33127"/>
          <a:stretch/>
        </p:blipFill>
        <p:spPr>
          <a:xfrm>
            <a:off x="303326" y="3017748"/>
            <a:ext cx="11347673" cy="306936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00C28D-61A3-D680-FAC6-0F0D2FF79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BCFE-0B52-4A8A-8ADD-A2D83E18CBC1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EA7AE-030B-1375-6362-871224FAF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745FA-DD64-46F7-E8B7-A1D8BB40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15</a:t>
            </a:fld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46FF6DF-0ADD-0CEF-4BCC-3E8F046F8001}"/>
              </a:ext>
            </a:extLst>
          </p:cNvPr>
          <p:cNvSpPr txBox="1">
            <a:spLocks/>
          </p:cNvSpPr>
          <p:nvPr/>
        </p:nvSpPr>
        <p:spPr>
          <a:xfrm>
            <a:off x="308387" y="6412470"/>
            <a:ext cx="6531028" cy="8955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0" i="1" dirty="0" err="1"/>
              <a:t>Smette</a:t>
            </a:r>
            <a:r>
              <a:rPr lang="en-US" sz="1800" b="0" i="1" dirty="0"/>
              <a:t>+ 2015</a:t>
            </a:r>
            <a:endParaRPr lang="en-US" dirty="0"/>
          </a:p>
          <a:p>
            <a:endParaRPr lang="en-US" b="0" i="1" dirty="0"/>
          </a:p>
        </p:txBody>
      </p:sp>
      <p:pic>
        <p:nvPicPr>
          <p:cNvPr id="1026" name="Picture 2" descr="How To Make A Rainbow - Simple Science Experiments">
            <a:extLst>
              <a:ext uri="{FF2B5EF4-FFF2-40B4-BE49-F238E27FC236}">
                <a16:creationId xmlns:a16="http://schemas.microsoft.com/office/drawing/2014/main" id="{42443571-D102-F7EF-5D9F-6C471E062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5468" y="13755"/>
            <a:ext cx="3166531" cy="2298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hat is a Prism? (with pictures)">
            <a:extLst>
              <a:ext uri="{FF2B5EF4-FFF2-40B4-BE49-F238E27FC236}">
                <a16:creationId xmlns:a16="http://schemas.microsoft.com/office/drawing/2014/main" id="{6574F660-9789-0152-0A7A-B294580538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2268" y="-24077"/>
            <a:ext cx="3976575" cy="240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7792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5D15-B8AC-1976-E477-51A797A2C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6041613" cy="1438780"/>
          </a:xfrm>
        </p:spPr>
        <p:txBody>
          <a:bodyPr/>
          <a:lstStyle/>
          <a:p>
            <a:r>
              <a:rPr lang="en-US" i="1" dirty="0"/>
              <a:t>Biosignatures: e.g. w/ spectroscopy</a:t>
            </a:r>
          </a:p>
        </p:txBody>
      </p:sp>
      <p:pic>
        <p:nvPicPr>
          <p:cNvPr id="7" name="Content Placeholder 6" descr="A group of graphs showing different types of waves&#10;&#10;AI-generated content may be incorrect.">
            <a:extLst>
              <a:ext uri="{FF2B5EF4-FFF2-40B4-BE49-F238E27FC236}">
                <a16:creationId xmlns:a16="http://schemas.microsoft.com/office/drawing/2014/main" id="{29CB06C5-E5E7-B543-BA0F-1B61729D0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454270" y="2389870"/>
            <a:ext cx="7373571" cy="357749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953EF1-7E6F-07CE-BC5B-89F917E8F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BCFE-0B52-4A8A-8ADD-A2D83E18CBC1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6B186-61A1-55F1-3FAC-379366119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E25C3-458D-907F-1DC2-DEE4555E7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16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B52F353-60E1-6EF2-CACA-3A907B017968}"/>
              </a:ext>
            </a:extLst>
          </p:cNvPr>
          <p:cNvSpPr txBox="1">
            <a:spLocks/>
          </p:cNvSpPr>
          <p:nvPr/>
        </p:nvSpPr>
        <p:spPr>
          <a:xfrm>
            <a:off x="308387" y="6412470"/>
            <a:ext cx="6531028" cy="8955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0" i="1" dirty="0"/>
              <a:t>Paganini+ 2019</a:t>
            </a:r>
          </a:p>
          <a:p>
            <a:endParaRPr lang="en-US" b="0" i="1"/>
          </a:p>
        </p:txBody>
      </p:sp>
      <p:pic>
        <p:nvPicPr>
          <p:cNvPr id="10" name="Picture 9" descr="Newly Reprocessed Images of Europa Show 'Chaos Terrain' in Crisp Detail ...">
            <a:extLst>
              <a:ext uri="{FF2B5EF4-FFF2-40B4-BE49-F238E27FC236}">
                <a16:creationId xmlns:a16="http://schemas.microsoft.com/office/drawing/2014/main" id="{47683BEC-EF58-B086-3ADE-A71345EC95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74277"/>
            <a:ext cx="4613030" cy="3810000"/>
          </a:xfrm>
          <a:prstGeom prst="rect">
            <a:avLst/>
          </a:prstGeom>
        </p:spPr>
      </p:pic>
      <p:pic>
        <p:nvPicPr>
          <p:cNvPr id="2050" name="Picture 2" descr="Leaf Photos, Download The BEST Free Leaf Stock Photos &amp; HD Images">
            <a:extLst>
              <a:ext uri="{FF2B5EF4-FFF2-40B4-BE49-F238E27FC236}">
                <a16:creationId xmlns:a16="http://schemas.microsoft.com/office/drawing/2014/main" id="{9E9FC2E9-CBE9-A849-087C-F4235E647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8665" y="213973"/>
            <a:ext cx="2749176" cy="2058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1032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E39C8-FE93-1531-F127-6EBAFBFB4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8493B-0FF2-222B-31B6-452C75074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087" y="620202"/>
            <a:ext cx="11004497" cy="1438780"/>
          </a:xfrm>
        </p:spPr>
        <p:txBody>
          <a:bodyPr/>
          <a:lstStyle/>
          <a:p>
            <a:r>
              <a:rPr lang="en-US" i="1" dirty="0" err="1"/>
              <a:t>Technosignatures</a:t>
            </a:r>
            <a:r>
              <a:rPr lang="en-US" i="1" dirty="0"/>
              <a:t>: e.g. w/ photometry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2AF04C6-C554-5B3B-9A59-2B70E03F3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447" y="2554288"/>
            <a:ext cx="6944932" cy="387032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B9FCC-FFB1-FDE9-5296-8C65914EB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E73F8-F50C-4258-8163-58599D0E20EE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2F174-1439-84A7-BDBF-FF3E91C1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5C039-99C6-11BF-4B65-E85DE0114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17</a:t>
            </a:fld>
            <a:endParaRPr lang="en-US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5526DF96-C8FB-A6CD-5156-AD7885FC9E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0773" y="3228446"/>
            <a:ext cx="4498717" cy="2522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7030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4D98F-4250-AAF6-F1E5-AF125633A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C8A1D-A963-8A0D-69F1-3920A0489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087" y="620202"/>
            <a:ext cx="11004497" cy="1438780"/>
          </a:xfrm>
        </p:spPr>
        <p:txBody>
          <a:bodyPr/>
          <a:lstStyle/>
          <a:p>
            <a:r>
              <a:rPr lang="en-US" i="1" dirty="0" err="1"/>
              <a:t>Technosignatures</a:t>
            </a:r>
            <a:r>
              <a:rPr lang="en-US" i="1" dirty="0"/>
              <a:t>: e.g. w/ photometry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A99F209-22FC-04EA-4488-29B5E5C243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447" y="2554288"/>
            <a:ext cx="6944932" cy="387032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BAF0A-10AB-91E8-CBF9-84EC7057B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E73F8-F50C-4258-8163-58599D0E20EE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16D16-52F8-A1AD-6904-F359F11C6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748F6-5F2E-50E6-D3BD-1BB51D483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18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58E45B55-A74E-750E-20B7-EF59C33F8B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452"/>
          <a:stretch>
            <a:fillRect/>
          </a:stretch>
        </p:blipFill>
        <p:spPr bwMode="auto">
          <a:xfrm>
            <a:off x="6458553" y="3086366"/>
            <a:ext cx="5334000" cy="280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5465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AA76C-F83D-22FB-43EA-B1A516735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99E26-6EE5-A08E-645C-470C72D63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087" y="620202"/>
            <a:ext cx="11004497" cy="1438780"/>
          </a:xfrm>
        </p:spPr>
        <p:txBody>
          <a:bodyPr/>
          <a:lstStyle/>
          <a:p>
            <a:r>
              <a:rPr lang="en-US" i="1" dirty="0" err="1"/>
              <a:t>Technosignatures</a:t>
            </a:r>
            <a:r>
              <a:rPr lang="en-US" i="1" dirty="0"/>
              <a:t>: e.g. w/ photometry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A4C0847-F3AA-8A15-CC4A-ECDC672056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447" y="2554288"/>
            <a:ext cx="6944932" cy="387032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00D61-48EE-70A1-2952-02C3E37B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E73F8-F50C-4258-8163-58599D0E20EE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ABA3B5-E066-441D-FA2B-1607EEFF5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99DE2-CDA2-F628-8C65-55D522CA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19</a:t>
            </a:fld>
            <a:endParaRPr lang="en-US"/>
          </a:p>
        </p:txBody>
      </p:sp>
      <p:pic>
        <p:nvPicPr>
          <p:cNvPr id="8" name="Picture 7" descr="A bright light in space&#10;&#10;AI-generated content may be incorrect.">
            <a:extLst>
              <a:ext uri="{FF2B5EF4-FFF2-40B4-BE49-F238E27FC236}">
                <a16:creationId xmlns:a16="http://schemas.microsoft.com/office/drawing/2014/main" id="{706559C6-DE52-2F5D-E863-B4ECA9A8C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5600" y="2463800"/>
            <a:ext cx="3041650" cy="405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3394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6C7BC-0BC9-7BFA-7EAD-17F01C088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BDB68-15CE-C29F-D915-5DE556250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How might we communicate?</a:t>
            </a:r>
          </a:p>
        </p:txBody>
      </p:sp>
      <p:pic>
        <p:nvPicPr>
          <p:cNvPr id="7" name="Content Placeholder 6" descr="A piece of paper with numbers and a red marker&#10;&#10;AI-generated content may be incorrect.">
            <a:extLst>
              <a:ext uri="{FF2B5EF4-FFF2-40B4-BE49-F238E27FC236}">
                <a16:creationId xmlns:a16="http://schemas.microsoft.com/office/drawing/2014/main" id="{03EA284F-E741-295A-931D-5C6B451E4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2758" y="2597672"/>
            <a:ext cx="5365750" cy="302895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4A8C4-EB08-1DC5-6299-87ACFB8B9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C253-C765-46AD-95DE-0A36D199970C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09877-9DEE-DEB4-CFAF-53D9A702CF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9F4D5-DDD8-C1A3-C226-8C1ECB07B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20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8EDE21-3A39-137C-E526-6415234952DC}"/>
              </a:ext>
            </a:extLst>
          </p:cNvPr>
          <p:cNvSpPr txBox="1"/>
          <p:nvPr/>
        </p:nvSpPr>
        <p:spPr>
          <a:xfrm>
            <a:off x="3047384" y="3105834"/>
            <a:ext cx="6097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935EA8-0464-D568-BF74-500C4381BC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87" y="2297761"/>
            <a:ext cx="5245100" cy="3403600"/>
          </a:xfrm>
          <a:prstGeom prst="rect">
            <a:avLst/>
          </a:prstGeom>
        </p:spPr>
      </p:pic>
      <p:pic>
        <p:nvPicPr>
          <p:cNvPr id="3074" name="Picture 2" descr="Leaf Photos, Download The BEST Free Leaf Stock Photos &amp; HD Images">
            <a:extLst>
              <a:ext uri="{FF2B5EF4-FFF2-40B4-BE49-F238E27FC236}">
                <a16:creationId xmlns:a16="http://schemas.microsoft.com/office/drawing/2014/main" id="{DE98C4F7-732B-9082-C069-F9E2DDB67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3732" y="0"/>
            <a:ext cx="3488267" cy="26125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65141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BF9EB-6CC3-7E47-E204-494D1844D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How might we communicate?</a:t>
            </a:r>
          </a:p>
        </p:txBody>
      </p:sp>
      <p:pic>
        <p:nvPicPr>
          <p:cNvPr id="7" name="Content Placeholder 6" descr="A piece of paper with numbers and a red marker&#10;&#10;AI-generated content may be incorrect.">
            <a:extLst>
              <a:ext uri="{FF2B5EF4-FFF2-40B4-BE49-F238E27FC236}">
                <a16:creationId xmlns:a16="http://schemas.microsoft.com/office/drawing/2014/main" id="{5AED401C-C20E-6CC0-7DCB-A3ABCFB49B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32758" y="2597672"/>
            <a:ext cx="5365750" cy="3028950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CC8D64-0C2D-8548-14EA-7263BE53C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75C253-C765-46AD-95DE-0A36D199970C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84AA8-2917-5EAB-5649-3F1B0FC1D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ABB72-ACCA-B05C-C2D8-3F06AEF7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21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B4BBAF-3D8A-5414-C0E0-4F2A3A7F5DD9}"/>
              </a:ext>
            </a:extLst>
          </p:cNvPr>
          <p:cNvSpPr txBox="1"/>
          <p:nvPr/>
        </p:nvSpPr>
        <p:spPr>
          <a:xfrm>
            <a:off x="3047384" y="3105834"/>
            <a:ext cx="60972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8BAE45-076E-8E99-A5B5-DEFB3A1FB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87" y="2297761"/>
            <a:ext cx="5245100" cy="34036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18060B-FFAE-5590-37A7-58E4C3EE71E5}"/>
              </a:ext>
            </a:extLst>
          </p:cNvPr>
          <p:cNvSpPr txBox="1"/>
          <p:nvPr/>
        </p:nvSpPr>
        <p:spPr>
          <a:xfrm>
            <a:off x="5932758" y="2039289"/>
            <a:ext cx="6095472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0" i="0" u="none" strike="noStrike" dirty="0">
                <a:effectLst/>
                <a:latin typeface="Neue Haas Grotesk Text Pro"/>
              </a:rPr>
              <a:t>1420.4556±0.005 MHz</a:t>
            </a:r>
            <a:endParaRPr lang="en-US" sz="2800">
              <a:latin typeface="Neue Haas Grotesk Text Pro"/>
            </a:endParaRPr>
          </a:p>
        </p:txBody>
      </p:sp>
    </p:spTree>
    <p:extLst>
      <p:ext uri="{BB962C8B-B14F-4D97-AF65-F5344CB8AC3E}">
        <p14:creationId xmlns:p14="http://schemas.microsoft.com/office/powerpoint/2010/main" val="2803482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FF55-6FC1-5DE6-7C29-94F277F56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The problem of first 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D391A-FA87-2E21-6802-A5E085F91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68" y="2306781"/>
            <a:ext cx="5550332" cy="3870181"/>
          </a:xfrm>
        </p:spPr>
        <p:txBody>
          <a:bodyPr>
            <a:normAutofit lnSpcReduction="10000"/>
          </a:bodyPr>
          <a:lstStyle/>
          <a:p>
            <a:r>
              <a:rPr lang="en-US" sz="2800" dirty="0"/>
              <a:t>Taino population, 1492: 8 million; ~1550: “0”</a:t>
            </a:r>
          </a:p>
          <a:p>
            <a:r>
              <a:rPr lang="en-US" sz="2800" dirty="0"/>
              <a:t>Mass torture, enslavement</a:t>
            </a:r>
          </a:p>
          <a:p>
            <a:r>
              <a:rPr lang="en-US" sz="2800" dirty="0"/>
              <a:t>Spread of illness </a:t>
            </a:r>
          </a:p>
          <a:p>
            <a:r>
              <a:rPr lang="en-US" sz="2800" dirty="0"/>
              <a:t>Led to colonization of the Americas and genocide of indigenous populations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32E64-C4A2-45EF-8CAB-423733AF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E1948-E79A-4540-93E6-52050E5FC59D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3D568-576D-2BB0-1AC5-0AFA98A65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74319-FB8A-1AC9-90A6-34DC8B500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22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B00246-C5AD-2CF1-DBCB-F2F0966D6783}"/>
              </a:ext>
            </a:extLst>
          </p:cNvPr>
          <p:cNvSpPr txBox="1"/>
          <p:nvPr/>
        </p:nvSpPr>
        <p:spPr>
          <a:xfrm>
            <a:off x="3047825" y="3105834"/>
            <a:ext cx="60963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07FDF9-0D4E-96EA-A286-3C4E005B5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3388" y="2112991"/>
            <a:ext cx="5550331" cy="4063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818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038ECA-C2C6-75B4-86BF-3A91AF8C8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77F0-1FDE-7A44-A8C9-4BE844B1F207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1A1FA-5486-16EC-171E-129A2347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AC577-073D-2818-82FE-131A4E047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 descr="Moon Landing Flag">
            <a:extLst>
              <a:ext uri="{FF2B5EF4-FFF2-40B4-BE49-F238E27FC236}">
                <a16:creationId xmlns:a16="http://schemas.microsoft.com/office/drawing/2014/main" id="{BC445BC6-1C54-37D6-408B-16FC797DB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805815"/>
            <a:ext cx="4013200" cy="2630170"/>
          </a:xfrm>
          <a:prstGeom prst="rect">
            <a:avLst/>
          </a:prstGeom>
        </p:spPr>
      </p:pic>
      <p:pic>
        <p:nvPicPr>
          <p:cNvPr id="8" name="Picture 7" descr="Illustration of what a Chinese flag on the moon’s surface would look like">
            <a:extLst>
              <a:ext uri="{FF2B5EF4-FFF2-40B4-BE49-F238E27FC236}">
                <a16:creationId xmlns:a16="http://schemas.microsoft.com/office/drawing/2014/main" id="{EE1B3BE5-2D6B-376C-A2C2-550822EB3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598310"/>
            <a:ext cx="3771899" cy="2671280"/>
          </a:xfrm>
          <a:prstGeom prst="rect">
            <a:avLst/>
          </a:prstGeom>
        </p:spPr>
      </p:pic>
      <p:pic>
        <p:nvPicPr>
          <p:cNvPr id="9" name="Picture 8" descr="Postcard shows the painting &quot;Landing of Columbus&quot; by John Vanderlyn ...">
            <a:extLst>
              <a:ext uri="{FF2B5EF4-FFF2-40B4-BE49-F238E27FC236}">
                <a16:creationId xmlns:a16="http://schemas.microsoft.com/office/drawing/2014/main" id="{5058B74A-E592-4DDF-C050-C6453E991C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0" y="3163908"/>
            <a:ext cx="4241799" cy="2981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1646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88FBD-FF89-4D67-5C91-F0F7BB931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DD837-6659-35F4-FFF0-59EF47729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77F0-1FDE-7A44-A8C9-4BE844B1F207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5EA650-7489-A607-FB7F-7BB99018E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E4D6F-D80C-9C68-EF03-F8E291EE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24</a:t>
            </a:fld>
            <a:endParaRPr lang="en-US"/>
          </a:p>
        </p:txBody>
      </p:sp>
      <p:pic>
        <p:nvPicPr>
          <p:cNvPr id="7" name="Picture 6" descr="Moon Landing Flag">
            <a:extLst>
              <a:ext uri="{FF2B5EF4-FFF2-40B4-BE49-F238E27FC236}">
                <a16:creationId xmlns:a16="http://schemas.microsoft.com/office/drawing/2014/main" id="{8FB4F05E-2209-F0F1-CD7C-C473DA759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805815"/>
            <a:ext cx="4013200" cy="2630170"/>
          </a:xfrm>
          <a:prstGeom prst="rect">
            <a:avLst/>
          </a:prstGeom>
        </p:spPr>
      </p:pic>
      <p:pic>
        <p:nvPicPr>
          <p:cNvPr id="8" name="Picture 7" descr="Illustration of what a Chinese flag on the moon’s surface would look like">
            <a:extLst>
              <a:ext uri="{FF2B5EF4-FFF2-40B4-BE49-F238E27FC236}">
                <a16:creationId xmlns:a16="http://schemas.microsoft.com/office/drawing/2014/main" id="{7E6A3DFE-6FE2-7694-68D2-A252DB3F4B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0" y="3598310"/>
            <a:ext cx="3771899" cy="2671280"/>
          </a:xfrm>
          <a:prstGeom prst="rect">
            <a:avLst/>
          </a:prstGeom>
        </p:spPr>
      </p:pic>
      <p:pic>
        <p:nvPicPr>
          <p:cNvPr id="9" name="Picture 8" descr="Postcard shows the painting &quot;Landing of Columbus&quot; by John Vanderlyn ...">
            <a:extLst>
              <a:ext uri="{FF2B5EF4-FFF2-40B4-BE49-F238E27FC236}">
                <a16:creationId xmlns:a16="http://schemas.microsoft.com/office/drawing/2014/main" id="{248B7AF3-D8D9-7045-0D56-6040872097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5400" y="3163908"/>
            <a:ext cx="4241799" cy="2981284"/>
          </a:xfrm>
          <a:prstGeom prst="rect">
            <a:avLst/>
          </a:prstGeom>
        </p:spPr>
      </p:pic>
      <p:pic>
        <p:nvPicPr>
          <p:cNvPr id="10" name="Picture 9" descr="SpaceX Starship on Mars by Dale Rutherford | human Mars">
            <a:extLst>
              <a:ext uri="{FF2B5EF4-FFF2-40B4-BE49-F238E27FC236}">
                <a16:creationId xmlns:a16="http://schemas.microsoft.com/office/drawing/2014/main" id="{A1F06BA0-F1B4-6F05-B949-81035617FB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5401" y="246284"/>
            <a:ext cx="4762498" cy="264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115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09572-F942-0FE9-DEF3-B96E16DDD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2: Mission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9FF8E-31C2-62B4-A836-CA838FA55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36FA3-374C-4CC1-BEC6-C810CCB28067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0D3E9-1D2B-22CF-396F-C1347A6A1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D7AC2-FB76-4105-C920-E51D3D23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25</a:t>
            </a:fld>
            <a:endParaRPr lang="en-US" dirty="0"/>
          </a:p>
        </p:txBody>
      </p:sp>
      <p:pic>
        <p:nvPicPr>
          <p:cNvPr id="1026" name="Picture 2" descr="Where Truly Is Voyager 1? - Astronomy for Teens">
            <a:extLst>
              <a:ext uri="{FF2B5EF4-FFF2-40B4-BE49-F238E27FC236}">
                <a16:creationId xmlns:a16="http://schemas.microsoft.com/office/drawing/2014/main" id="{445004FE-6D84-2445-F52B-536D8D8B2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617" y="63202"/>
            <a:ext cx="4514850" cy="327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oyager 2 Enters Interstellar Space">
            <a:extLst>
              <a:ext uri="{FF2B5EF4-FFF2-40B4-BE49-F238E27FC236}">
                <a16:creationId xmlns:a16="http://schemas.microsoft.com/office/drawing/2014/main" id="{D2F2E858-606A-1C0F-52D8-CACBBB81C1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8617" y="3578581"/>
            <a:ext cx="4514850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Happy Birthday, Arecibo! At 55, Iconic Radio Telescope Survives ...">
            <a:extLst>
              <a:ext uri="{FF2B5EF4-FFF2-40B4-BE49-F238E27FC236}">
                <a16:creationId xmlns:a16="http://schemas.microsoft.com/office/drawing/2014/main" id="{C4733D28-44DF-164D-D362-5B7E3397B5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137" y="2429019"/>
            <a:ext cx="6787072" cy="3808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F2C5216-21AA-9F97-609F-9270E1994BA7}"/>
              </a:ext>
            </a:extLst>
          </p:cNvPr>
          <p:cNvSpPr txBox="1"/>
          <p:nvPr/>
        </p:nvSpPr>
        <p:spPr>
          <a:xfrm>
            <a:off x="308387" y="5868466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Arecibo Observatory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0B9A69-01FF-0C96-F066-CD711D9CC4E5}"/>
              </a:ext>
            </a:extLst>
          </p:cNvPr>
          <p:cNvSpPr txBox="1"/>
          <p:nvPr/>
        </p:nvSpPr>
        <p:spPr>
          <a:xfrm>
            <a:off x="7558617" y="2970470"/>
            <a:ext cx="1944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Voyager 1 Probe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901211-F2C0-F999-7BAF-AD4AD44FD212}"/>
              </a:ext>
            </a:extLst>
          </p:cNvPr>
          <p:cNvSpPr txBox="1"/>
          <p:nvPr/>
        </p:nvSpPr>
        <p:spPr>
          <a:xfrm>
            <a:off x="7558617" y="5936040"/>
            <a:ext cx="19912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Voyager 2 Probe</a:t>
            </a:r>
          </a:p>
        </p:txBody>
      </p:sp>
    </p:spTree>
    <p:extLst>
      <p:ext uri="{BB962C8B-B14F-4D97-AF65-F5344CB8AC3E}">
        <p14:creationId xmlns:p14="http://schemas.microsoft.com/office/powerpoint/2010/main" val="2403789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F8A22-264C-9A6F-A54C-305194E26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Arecibo Message (1974)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5C78C-822C-560D-B665-B5450324B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67" y="2306781"/>
            <a:ext cx="9570533" cy="3870181"/>
          </a:xfrm>
        </p:spPr>
        <p:txBody>
          <a:bodyPr/>
          <a:lstStyle/>
          <a:p>
            <a:r>
              <a:rPr lang="en-US" dirty="0"/>
              <a:t>White – 1 to 10 in binary</a:t>
            </a:r>
          </a:p>
          <a:p>
            <a:r>
              <a:rPr lang="en-US" dirty="0"/>
              <a:t>Purple – DNA! Atomic numbers of hydrogen, carbon, nitrogen, oxygen, phosphorous</a:t>
            </a:r>
          </a:p>
          <a:p>
            <a:r>
              <a:rPr lang="en-US" dirty="0"/>
              <a:t>Green – DNA! Nucleotides (molecules that make up DNA) </a:t>
            </a:r>
          </a:p>
          <a:p>
            <a:r>
              <a:rPr lang="en-US" dirty="0"/>
              <a:t>Blue &amp; White – DNA! Double Helix and number of base pairs</a:t>
            </a:r>
          </a:p>
          <a:p>
            <a:r>
              <a:rPr lang="en-US" dirty="0"/>
              <a:t>Red, Blue &amp; White – Humans, Average male height (blue, white), human population (white)</a:t>
            </a:r>
          </a:p>
          <a:p>
            <a:r>
              <a:rPr lang="en-US" dirty="0"/>
              <a:t>Yellow – Planets, highlighting Earth</a:t>
            </a:r>
          </a:p>
          <a:p>
            <a:r>
              <a:rPr lang="en-US" dirty="0"/>
              <a:t>Purple  blue, white – Arecibo Telescope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1E192-C1B1-50EB-B5D9-DCE46823C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1FFD2-035F-4869-A959-8F8E42F23621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D3B584-6C9B-D22C-AB3C-DC2DF65AB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A76B7-A93D-E9A9-B6E3-E42352BF8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26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EFE80DC-3D70-2B79-71D0-8D0BA5753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0"/>
            <a:ext cx="228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3563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61E49-2954-D927-2448-05F00525E6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Voyager Probes (1977)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0F1F7-80F1-8297-626D-1FA6E421C7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Only human objects that have escaped the solar system</a:t>
            </a:r>
          </a:p>
          <a:p>
            <a:r>
              <a:rPr lang="en-US" dirty="0">
                <a:hlinkClick r:id="rId2"/>
              </a:rPr>
              <a:t>The Golden Record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9DC54-CEA0-B383-BB03-790AB05C7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99099-EDE9-4D32-8F76-B18CCFB601D9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AA4F8-6636-E573-B32E-346AFF316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8DC17-383C-741E-1EA6-A1983B978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27</a:t>
            </a:fld>
            <a:endParaRPr lang="en-US" dirty="0"/>
          </a:p>
        </p:txBody>
      </p:sp>
      <p:pic>
        <p:nvPicPr>
          <p:cNvPr id="3076" name="Picture 4" descr="A space probe with squat cylindrical body topped by a large parabolic radio antenna dish pointing left, a three-element radioisotope thermoelectric generator on a boom extending down, and scientific instruments on a boom extending up. A disk is fixed to the body facing front left. A long triaxial boom extends down left and two radio antennas extend down left and down right.">
            <a:extLst>
              <a:ext uri="{FF2B5EF4-FFF2-40B4-BE49-F238E27FC236}">
                <a16:creationId xmlns:a16="http://schemas.microsoft.com/office/drawing/2014/main" id="{A26C4C5A-1580-0FBC-DBCF-65E05C7573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6570" y="222311"/>
            <a:ext cx="4148275" cy="58075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1A28768E-0A50-59D6-8DBF-FF0D51FFB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2774" y="3157886"/>
            <a:ext cx="3079912" cy="307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F9F0DFB8-1199-AD32-A1E2-44DFD1E821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38" y="3157886"/>
            <a:ext cx="3079912" cy="307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422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0BAB4-C1F8-4CA4-049B-B61509B89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>
            <a:normAutofit/>
          </a:bodyPr>
          <a:lstStyle/>
          <a:p>
            <a:r>
              <a:rPr lang="en-US" dirty="0"/>
              <a:t>The 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8AD4FF-7B6B-589A-81F4-0F20E1BDA9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4310" y="2075250"/>
            <a:ext cx="6549981" cy="4101492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</a:pPr>
            <a:r>
              <a:rPr lang="en-US" sz="2400" dirty="0"/>
              <a:t>Scientists have just received word of mysterious signals from the Alpha Centauri system, 4.3 light years away. It is possible they intercepted the Arecibo Message of 1974. </a:t>
            </a:r>
            <a:r>
              <a:rPr lang="en-US" sz="2400" b="1" dirty="0"/>
              <a:t>You are tasked with a designing a probe from Earth to our potential interstellar companions. </a:t>
            </a:r>
            <a:r>
              <a:rPr lang="en-US" sz="2400" dirty="0"/>
              <a:t>Expect the probe to arrive within ~20 years of launch. Remember, light (aka any communication) takes 1 year to travel 1 light year. </a:t>
            </a:r>
            <a:endParaRPr lang="en-US" sz="2400" b="1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8FAA34A-82CE-4ADB-A545-6D0A1561D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09024" y="1378254"/>
            <a:ext cx="4040729" cy="4101492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8F789-0783-9DAC-BE93-93A96A7865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71F1F31-ABEA-4511-A584-C26F003459CE}" type="datetime1">
              <a:rPr lang="en-US" smtClean="0"/>
              <a:pPr>
                <a:spcAft>
                  <a:spcPts val="600"/>
                </a:spcAft>
              </a:pPr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890C5-675B-E885-8A45-9B325BE4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C7B9B-E8C5-5632-DC4E-C028B79EC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293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AD6F-ECD0-AEC4-44FD-CA1AC00FB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 Summary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8AB86-437F-50ED-3867-224F4EF5F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67" y="2306781"/>
            <a:ext cx="6300311" cy="3870181"/>
          </a:xfrm>
        </p:spPr>
        <p:txBody>
          <a:bodyPr/>
          <a:lstStyle/>
          <a:p>
            <a:r>
              <a:rPr lang="en-US" dirty="0"/>
              <a:t>Breakout groups of ~4</a:t>
            </a:r>
          </a:p>
          <a:p>
            <a:r>
              <a:rPr lang="en-US" dirty="0"/>
              <a:t>~20 years for a probe to arrive, 4.3 years for comms</a:t>
            </a:r>
          </a:p>
          <a:p>
            <a:r>
              <a:rPr lang="en-US" dirty="0"/>
              <a:t>What do you want to share? Our knowledge of math and science? Our society? Our music? How do you want to share it? Vinyl? Mp3? An </a:t>
            </a:r>
            <a:r>
              <a:rPr lang="en-US" dirty="0" err="1"/>
              <a:t>IPhone</a:t>
            </a:r>
            <a:r>
              <a:rPr lang="en-US" dirty="0"/>
              <a:t>?</a:t>
            </a:r>
          </a:p>
          <a:p>
            <a:r>
              <a:rPr lang="en-US" dirty="0"/>
              <a:t>What instruments might you want on the probe? Cameras? Spectrographs? Thermometers? </a:t>
            </a:r>
          </a:p>
          <a:p>
            <a:r>
              <a:rPr lang="en-US" dirty="0"/>
              <a:t>SHARE OUT at 1:45 (each group has ~2 mins to present)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E8BE3-98E8-8DED-80B6-A08AAEBF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13260-9889-49EA-BAD0-753ECE34C660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873B7-A1C0-4DD9-7E23-AA6A0C5E0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E95E0-4A79-635A-071D-530861789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29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608BEF8E-2229-1DE4-F01E-FCCF4B7A6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0" y="0"/>
            <a:ext cx="228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67218E9C-893D-34BB-F8FD-6295E56CD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087" y="3700114"/>
            <a:ext cx="3079912" cy="307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>
            <a:extLst>
              <a:ext uri="{FF2B5EF4-FFF2-40B4-BE49-F238E27FC236}">
                <a16:creationId xmlns:a16="http://schemas.microsoft.com/office/drawing/2014/main" id="{3228A21C-A71F-3396-EBF5-E0F747269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779" y="0"/>
            <a:ext cx="3079912" cy="307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80729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29E6-6B34-48C6-9FED-11621B3D2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2EDC1-350A-222E-C73A-43AEFB765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/>
              <a:t>How did I do? Is astrobiology fascinating?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E0DA8-1491-C936-A685-028A429A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A77F0-1FDE-7A44-A8C9-4BE844B1F207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D3C17-A75C-4C1B-96AE-804317E5E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A7AC0-0744-E4BB-5830-E009140AC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847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AB8A2-DA44-6639-2B82-20A8A625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 SLIDES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BC03D-2F27-5637-1840-C9FAEACF8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F8D2DF-CA88-621D-630A-8853FE793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0A1FA-8CFB-4738-87EC-B54AA22643D6}" type="datetime1">
              <a:rPr lang="en-US" smtClean="0"/>
              <a:t>6/1/2026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B8702-0456-449D-54D4-F7ADEAB79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02732-A431-DBAB-C496-28AD7CE9C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101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5EDF-8606-2026-A0C4-35D4AF250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987" y="-228884"/>
            <a:ext cx="11525332" cy="1438780"/>
          </a:xfrm>
        </p:spPr>
        <p:txBody>
          <a:bodyPr/>
          <a:lstStyle/>
          <a:p>
            <a:r>
              <a:rPr lang="en-US" i="1" dirty="0"/>
              <a:t>Dark Forest Theory</a:t>
            </a:r>
            <a:r>
              <a:rPr lang="en-US" dirty="0"/>
              <a:t> (“cosmic sociology”)</a:t>
            </a:r>
            <a:endParaRPr lang="en-US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C2BE3-C00E-F028-7739-CB274B945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70" y="1209896"/>
            <a:ext cx="10980004" cy="387018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3 Axioms</a:t>
            </a:r>
          </a:p>
          <a:p>
            <a:r>
              <a:rPr lang="en-US" sz="2000" dirty="0">
                <a:ea typeface="+mn-lt"/>
                <a:cs typeface="+mn-lt"/>
              </a:rPr>
              <a:t>Suppose a vast number of civilizations distributed throughout the universe, on the order of the number of observable stars. </a:t>
            </a:r>
            <a:endParaRPr lang="en-US" sz="2000" baseline="30000"/>
          </a:p>
          <a:p>
            <a:r>
              <a:rPr lang="en-US" sz="2000" dirty="0">
                <a:ea typeface="+mn-lt"/>
                <a:cs typeface="+mn-lt"/>
              </a:rPr>
              <a:t>Suppose that survival is the primary need of a civilization.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Suppose that civilizations continuously expand over time, but the total matter in the universe remains constant.</a:t>
            </a:r>
            <a:endParaRPr lang="en-US" sz="200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2 Assumptions</a:t>
            </a:r>
          </a:p>
          <a:p>
            <a:r>
              <a:rPr lang="en-US" sz="2000" dirty="0">
                <a:ea typeface="+mn-lt"/>
                <a:cs typeface="+mn-lt"/>
              </a:rPr>
              <a:t>Chain of Suspicion: How do we know other intelligent life is friendly? How do they know we are? </a:t>
            </a:r>
            <a:endParaRPr lang="en-US" sz="2000" dirty="0"/>
          </a:p>
          <a:p>
            <a:r>
              <a:rPr lang="en-US" sz="2000" dirty="0"/>
              <a:t>Technological explosion: there's no telling when a civilization will "leapfrog" another.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96600-A530-7FB6-C724-6750517EB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25C2D2-8AE1-E04D-9F7D-7D260976733C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A2184-067B-1E59-9E5E-2304D32DE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1C522-04FF-E2B2-3633-6354B78CC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32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5C7A0BD-3A6C-372D-9E92-B627DCEAE2C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351463"/>
            <a:ext cx="11525250" cy="1438275"/>
          </a:xfrm>
        </p:spPr>
        <p:txBody>
          <a:bodyPr/>
          <a:lstStyle/>
          <a:p>
            <a:r>
              <a:rPr lang="en-US" i="1" dirty="0"/>
              <a:t>TPS! What are the holes in the dark forest?</a:t>
            </a:r>
          </a:p>
        </p:txBody>
      </p:sp>
    </p:spTree>
    <p:extLst>
      <p:ext uri="{BB962C8B-B14F-4D97-AF65-F5344CB8AC3E}">
        <p14:creationId xmlns:p14="http://schemas.microsoft.com/office/powerpoint/2010/main" val="5738294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C978-AAEB-A565-6259-90B3745A4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237" y="5177920"/>
            <a:ext cx="9956747" cy="1438780"/>
          </a:xfrm>
        </p:spPr>
        <p:txBody>
          <a:bodyPr>
            <a:normAutofit fontScale="90000"/>
          </a:bodyPr>
          <a:lstStyle/>
          <a:p>
            <a:r>
              <a:rPr lang="en-US" i="1" dirty="0"/>
              <a:t>Happy Forest Theory: throughout the universe there is an inexplicable goodwill towards others and everyone lives in harmony forever</a:t>
            </a:r>
            <a:br>
              <a:rPr lang="en-US" i="1" dirty="0"/>
            </a:br>
            <a:br>
              <a:rPr lang="en-US" i="1" dirty="0"/>
            </a:br>
            <a:r>
              <a:rPr lang="en-US" i="1" dirty="0"/>
              <a:t>Chiller Forest Theory: throughout the universe the law of live and let live rules</a:t>
            </a:r>
            <a:br>
              <a:rPr lang="en-US" i="1" dirty="0"/>
            </a:br>
            <a:br>
              <a:rPr lang="en-US" i="1" dirty="0"/>
            </a:br>
            <a:endParaRPr lang="en-US" i="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BBF22-CCCB-A206-CB94-B3486EE74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9841C-0B3C-B446-B448-43D6F3ADB5E9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C1699-7C3A-3464-7D33-99FE1108F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869F1-1B9B-8DAA-2D06-296F92086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56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A51B35-4D1E-9739-648A-5213DA34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32F81-B72A-9130-D54B-E46CCB8AE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</a:rPr>
              <a:t>Biosignatures: e.g. w/ spectroscopy</a:t>
            </a:r>
          </a:p>
        </p:txBody>
      </p:sp>
      <p:pic>
        <p:nvPicPr>
          <p:cNvPr id="11" name="Content Placeholder 10" descr="A diagram of a solar system&#10;&#10;AI-generated content may be incorrect.">
            <a:extLst>
              <a:ext uri="{FF2B5EF4-FFF2-40B4-BE49-F238E27FC236}">
                <a16:creationId xmlns:a16="http://schemas.microsoft.com/office/drawing/2014/main" id="{CBD560C8-4FBF-8E6D-CA54-F2F2C008F1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488" t="5045" r="1693" b="1802"/>
          <a:stretch/>
        </p:blipFill>
        <p:spPr>
          <a:xfrm>
            <a:off x="2572228" y="2451171"/>
            <a:ext cx="7038765" cy="328296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BF96B-F268-32FD-ADAB-F339E7D7F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BCFE-0B52-4A8A-8ADD-A2D83E18CBC1}" type="datetime1"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F7D7B-B107-669C-316B-99FA3A9B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252347-E1CD-59D8-E87D-D86BE9C1D9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9F05359-B967-0C25-885B-8598AEA5012E}"/>
              </a:ext>
            </a:extLst>
          </p:cNvPr>
          <p:cNvSpPr txBox="1">
            <a:spLocks/>
          </p:cNvSpPr>
          <p:nvPr/>
        </p:nvSpPr>
        <p:spPr>
          <a:xfrm>
            <a:off x="308387" y="6412470"/>
            <a:ext cx="6531028" cy="8955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0" i="1" dirty="0">
                <a:solidFill>
                  <a:schemeClr val="bg1"/>
                </a:solidFill>
              </a:rPr>
              <a:t>Kempton &amp; Knutson 2024</a:t>
            </a:r>
          </a:p>
          <a:p>
            <a:endParaRPr lang="en-US" b="0" i="1"/>
          </a:p>
        </p:txBody>
      </p:sp>
      <p:pic>
        <p:nvPicPr>
          <p:cNvPr id="12" name="Picture 11" descr="Heather Knutson">
            <a:extLst>
              <a:ext uri="{FF2B5EF4-FFF2-40B4-BE49-F238E27FC236}">
                <a16:creationId xmlns:a16="http://schemas.microsoft.com/office/drawing/2014/main" id="{88C56B5A-6359-5620-B7C2-D06682B174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087" b="-170"/>
          <a:stretch/>
        </p:blipFill>
        <p:spPr>
          <a:xfrm>
            <a:off x="10058400" y="3695249"/>
            <a:ext cx="1962150" cy="2249414"/>
          </a:xfrm>
          <a:prstGeom prst="rect">
            <a:avLst/>
          </a:prstGeom>
        </p:spPr>
      </p:pic>
      <p:pic>
        <p:nvPicPr>
          <p:cNvPr id="13" name="Picture 12" descr="Eliza Kempton">
            <a:extLst>
              <a:ext uri="{FF2B5EF4-FFF2-40B4-BE49-F238E27FC236}">
                <a16:creationId xmlns:a16="http://schemas.microsoft.com/office/drawing/2014/main" id="{B2768213-0D18-70E7-786F-F221FF56F1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8087" y="617537"/>
            <a:ext cx="1876425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7238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26633-592E-2CB7-D84D-AD52A2BCD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4B5A8-583D-7330-2F02-C85D48E0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Biosignatures: e.g. w/ spectroscopy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CBF999B-35EF-4178-68D9-826FCFCD99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767" y="2383248"/>
            <a:ext cx="11487097" cy="328544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B00D-2DA6-FE08-DC5C-5CA21072B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BCFE-0B52-4A8A-8ADD-A2D83E18CBC1}" type="datetime1"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F8916-6324-4361-0F53-E8CFB696C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5355A-273C-E164-160B-A6B9D1CE1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061282F-A4D9-646D-7345-BDE12D345B7E}"/>
              </a:ext>
            </a:extLst>
          </p:cNvPr>
          <p:cNvSpPr txBox="1">
            <a:spLocks/>
          </p:cNvSpPr>
          <p:nvPr/>
        </p:nvSpPr>
        <p:spPr>
          <a:xfrm>
            <a:off x="308387" y="6412470"/>
            <a:ext cx="6531028" cy="8955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0" i="1" dirty="0"/>
              <a:t>Matthews+ 2025</a:t>
            </a:r>
          </a:p>
          <a:p>
            <a:endParaRPr lang="en-US" b="0" i="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BD3F6F0-0B22-4EA7-2CBF-7A2FA39C0E24}"/>
              </a:ext>
            </a:extLst>
          </p:cNvPr>
          <p:cNvSpPr txBox="1">
            <a:spLocks/>
          </p:cNvSpPr>
          <p:nvPr/>
        </p:nvSpPr>
        <p:spPr>
          <a:xfrm>
            <a:off x="3045237" y="495725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i="1" dirty="0"/>
              <a:t>TPS! What kind of planet is this?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1206369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50230-0A38-31C0-8D19-B9B4D002E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99D32-4DE1-A04E-2A06-527F134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/>
              <a:t>Biosignatures: e.g. w/ spectroscopy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75755A6-211C-EC11-3F44-1F682BD04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767" y="2383248"/>
            <a:ext cx="11487097" cy="3285447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435FF-C33C-BFCC-857C-BA1C9E90C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FBCFE-0B52-4A8A-8ADD-A2D83E18CBC1}" type="datetime1">
              <a:rPr lang="en-US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E479E-9CE4-7362-513B-30486C67C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70772-9273-9620-42D3-FBB7E727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36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920DB82-6A1D-8BAD-26F2-C9827E51B9FD}"/>
              </a:ext>
            </a:extLst>
          </p:cNvPr>
          <p:cNvSpPr txBox="1">
            <a:spLocks/>
          </p:cNvSpPr>
          <p:nvPr/>
        </p:nvSpPr>
        <p:spPr>
          <a:xfrm>
            <a:off x="308387" y="6412470"/>
            <a:ext cx="6531028" cy="8955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0" i="1" dirty="0"/>
              <a:t>Matthews+ 2025</a:t>
            </a:r>
            <a:endParaRPr lang="en-US" sz="1800" b="0" dirty="0">
              <a:solidFill>
                <a:srgbClr val="000000"/>
              </a:solidFill>
            </a:endParaRPr>
          </a:p>
          <a:p>
            <a:endParaRPr lang="en-US" b="0" i="1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D1A583E-4E7A-F7FD-0FAB-94D83866DF56}"/>
              </a:ext>
            </a:extLst>
          </p:cNvPr>
          <p:cNvSpPr txBox="1">
            <a:spLocks/>
          </p:cNvSpPr>
          <p:nvPr/>
        </p:nvSpPr>
        <p:spPr>
          <a:xfrm>
            <a:off x="3045237" y="495725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0" dirty="0">
                <a:ea typeface="+mj-lt"/>
                <a:cs typeface="+mj-lt"/>
              </a:rPr>
              <a:t>WISE-0458! A </a:t>
            </a:r>
            <a:r>
              <a:rPr lang="en-US" sz="3200" b="0" u="sng" dirty="0">
                <a:ea typeface="+mj-lt"/>
                <a:cs typeface="+mj-lt"/>
              </a:rPr>
              <a:t>Brown Dwarf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15665713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B5A5F-7926-6E8F-E0E6-83DDE498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11227335" cy="1438780"/>
          </a:xfrm>
        </p:spPr>
        <p:txBody>
          <a:bodyPr/>
          <a:lstStyle/>
          <a:p>
            <a:r>
              <a:rPr lang="en-US" i="1" dirty="0"/>
              <a:t>Civilization types (the </a:t>
            </a:r>
            <a:r>
              <a:rPr lang="en-US" i="1" dirty="0" err="1"/>
              <a:t>Kardashev</a:t>
            </a:r>
            <a:r>
              <a:rPr lang="en-US" i="1" dirty="0"/>
              <a:t> scale)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9027BF-D375-5090-690C-D98557976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A951F-073E-BC44-43AF-47218807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78712-1790-5547-BD1D-D496367EB5C8}" type="datetime1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4C3B50-1D45-9EB1-C37B-AEBEF5976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E673C-5830-4F4D-500C-96FE55715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37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2147574-CFC9-725F-3E03-16936C06C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729" y="2354359"/>
            <a:ext cx="9770650" cy="37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546492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7e39101a-1a5b-45b3-8141-0a0a65b770f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E6F5DCC731B74F9A1C39FD3E044CF2" ma:contentTypeVersion="6" ma:contentTypeDescription="Create a new document." ma:contentTypeScope="" ma:versionID="ef6ff690dd3cace38c9f2cc6c7a428b2">
  <xsd:schema xmlns:xsd="http://www.w3.org/2001/XMLSchema" xmlns:xs="http://www.w3.org/2001/XMLSchema" xmlns:p="http://schemas.microsoft.com/office/2006/metadata/properties" xmlns:ns3="7e39101a-1a5b-45b3-8141-0a0a65b770f2" targetNamespace="http://schemas.microsoft.com/office/2006/metadata/properties" ma:root="true" ma:fieldsID="ecb89fa50ab1d6051fcb56d0be60daa3" ns3:_="">
    <xsd:import namespace="7e39101a-1a5b-45b3-8141-0a0a65b770f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39101a-1a5b-45b3-8141-0a0a65b770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21026A-C96C-4BE4-A7C0-781002CB073E}">
  <ds:schemaRefs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7e39101a-1a5b-45b3-8141-0a0a65b770f2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8406CE3-B437-4596-B025-E27348A23F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e39101a-1a5b-45b3-8141-0a0a65b770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027B28F-19FC-445A-A062-71F0BBCBA27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phan_splash_25</Template>
  <TotalTime>375</TotalTime>
  <Words>1122</Words>
  <Application>Microsoft Office PowerPoint</Application>
  <PresentationFormat>Widescreen</PresentationFormat>
  <Paragraphs>231</Paragraphs>
  <Slides>37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Aptos</vt:lpstr>
      <vt:lpstr>Arial</vt:lpstr>
      <vt:lpstr>Neue Haas Grotesk Text Pro</vt:lpstr>
      <vt:lpstr>DylanVTI</vt:lpstr>
      <vt:lpstr>SPROUT F25: How to Talk to Aliens</vt:lpstr>
      <vt:lpstr>DAY 1: Where are the Aliens?</vt:lpstr>
      <vt:lpstr>Q: What is Astrobiology? </vt:lpstr>
      <vt:lpstr>Q: What is Astrobiology? </vt:lpstr>
      <vt:lpstr>e.g. a star and a planet</vt:lpstr>
      <vt:lpstr>e.g. a star and a planet</vt:lpstr>
      <vt:lpstr>The (Frank) Drake Equation, 1965</vt:lpstr>
      <vt:lpstr>The Drake Equation</vt:lpstr>
      <vt:lpstr>The Drake Equation</vt:lpstr>
      <vt:lpstr>The Drake Equation</vt:lpstr>
      <vt:lpstr>The (Enrico) Fermi Paradox, 1950ish</vt:lpstr>
      <vt:lpstr>The (Enrico) Fermi Paradox, 1950ish</vt:lpstr>
      <vt:lpstr>The (Enrico) Fermi Paradox, 1950ish</vt:lpstr>
      <vt:lpstr>Biosignatures (fl in Drake eqn.)</vt:lpstr>
      <vt:lpstr>Biosignatures: e.g. w/ spectroscopy</vt:lpstr>
      <vt:lpstr>Biosignatures: e.g. w/ spectroscopy</vt:lpstr>
      <vt:lpstr>Technosignatures: e.g. w/ photometry</vt:lpstr>
      <vt:lpstr>Technosignatures: e.g. w/ photometry</vt:lpstr>
      <vt:lpstr>Technosignatures: e.g. w/ photometry</vt:lpstr>
      <vt:lpstr>How might we communicate?</vt:lpstr>
      <vt:lpstr>How might we communicate?</vt:lpstr>
      <vt:lpstr>The problem of first contact</vt:lpstr>
      <vt:lpstr>PowerPoint Presentation</vt:lpstr>
      <vt:lpstr>PowerPoint Presentation</vt:lpstr>
      <vt:lpstr>DAY 2: Mission Design</vt:lpstr>
      <vt:lpstr>The Arecibo Message (1974)</vt:lpstr>
      <vt:lpstr>The Voyager Probes (1977)</vt:lpstr>
      <vt:lpstr>The Mission</vt:lpstr>
      <vt:lpstr>Mission Summary </vt:lpstr>
      <vt:lpstr>How did I do? Is astrobiology fascinating?</vt:lpstr>
      <vt:lpstr>EXTRA SLIDES</vt:lpstr>
      <vt:lpstr>Dark Forest Theory (“cosmic sociology”)</vt:lpstr>
      <vt:lpstr>Happy Forest Theory: throughout the universe there is an inexplicable goodwill towards others and everyone lives in harmony forever  Chiller Forest Theory: throughout the universe the law of live and let live rules  </vt:lpstr>
      <vt:lpstr>Biosignatures: e.g. w/ spectroscopy</vt:lpstr>
      <vt:lpstr>Biosignatures: e.g. w/ spectroscopy</vt:lpstr>
      <vt:lpstr>Biosignatures: e.g. w/ spectroscopy</vt:lpstr>
      <vt:lpstr>Civilization types (the Kardashev scale)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Phan, Kenny</dc:creator>
  <cp:lastModifiedBy>Phan, Kenny</cp:lastModifiedBy>
  <cp:revision>6</cp:revision>
  <dcterms:created xsi:type="dcterms:W3CDTF">2025-11-12T20:06:55Z</dcterms:created>
  <dcterms:modified xsi:type="dcterms:W3CDTF">2026-06-02T00:04:21Z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0x010100F9E6F5DCC731B74F9A1C39FD3E044CF2</vt:lpwstr>
  </property>
</Properties>
</file>